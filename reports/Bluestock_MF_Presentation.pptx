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2196F3"/>
                </a:solidFill>
              </a:rPr>
              <a:t>BLUESTOCK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Mutual Fund Analytics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0E8F0"/>
                </a:solidFill>
              </a:rPr>
              <a:t>End-to-End Data Analytics  |  ETL · SQL · EDA · Performance · Dashboard · Advanced Analytics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474720"/>
            <a:ext cx="2011680" cy="914400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520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2196F3"/>
                </a:solidFill>
              </a:rPr>
              <a:t>Author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40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Prabhjot Kaur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3474720"/>
            <a:ext cx="2011680" cy="914400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3520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2196F3"/>
                </a:solidFill>
              </a:rPr>
              <a:t>Organisation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840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Bluestock Fintech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3474720"/>
            <a:ext cx="2011680" cy="914400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3520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2196F3"/>
                </a:solidFill>
              </a:rPr>
              <a:t>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840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June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3474720"/>
            <a:ext cx="2011680" cy="914400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3520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2196F3"/>
                </a:solidFill>
              </a:rPr>
              <a:t>Data Period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840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Jan 2022 – Dec 2025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4846320"/>
            <a:ext cx="2011680" cy="8229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48646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2760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Fund Schemes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39" y="4846320"/>
            <a:ext cx="2011680" cy="8229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39" y="48646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64,320+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52760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NAV Records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846320"/>
            <a:ext cx="2011680" cy="8229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48646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32,778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2760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Transactions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3920" y="4846320"/>
            <a:ext cx="2011680" cy="8229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48646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107,461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52760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DB Rows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Problem Statement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601968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E0E8F0"/>
                </a:solidFill>
              </a:rPr>
              <a:t>Bluestock MF Analytics Platform  |  Prabhjot Kaur  |  Bluestock Fintech  |  ©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5394960" cy="5303520"/>
          </a:xfrm>
          <a:prstGeom prst="rect">
            <a:avLst/>
          </a:prstGeom>
          <a:solidFill>
            <a:srgbClr val="0D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0" y="914400"/>
            <a:ext cx="5943600" cy="5303520"/>
          </a:xfrm>
          <a:prstGeom prst="rect">
            <a:avLst/>
          </a:prstGeom>
          <a:solidFill>
            <a:srgbClr val="0D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96F3"/>
                </a:solidFill>
              </a:rPr>
              <a:t>🚨 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8F0"/>
                </a:solidFill>
              </a:rPr>
              <a:t>▸  India has 1,908+ MF schemes — investors lack tools to compare them on risk-adjusted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8F0"/>
                </a:solidFill>
              </a:rPr>
              <a:t>▸  No open-source platform integrates ETL, SQL, EDA &amp; advanced analytics for Indian MFs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8F0"/>
                </a:solidFill>
              </a:rPr>
              <a:t>▸  Fund managers lack dashboards linking NAV, AUM, inflows &amp; investor behaviour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960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</a:rPr>
              <a:t>🎯 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463040"/>
            <a:ext cx="5577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8F0"/>
                </a:solidFill>
              </a:rPr>
              <a:t>  ✓  Build reproducible ETL pipeline (10 datasets + live NAV API)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286000"/>
            <a:ext cx="5577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8F0"/>
                </a:solidFill>
              </a:rPr>
              <a:t>  ✓  Star-schema SQLite DB with 11 tables &amp; 107K+ rows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108960"/>
            <a:ext cx="5577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8F0"/>
                </a:solidFill>
              </a:rPr>
              <a:t>  ✓  Deliver 15 EDA charts + 10 evidence-based findings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931920"/>
            <a:ext cx="5577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8F0"/>
                </a:solidFill>
              </a:rPr>
              <a:t>  ✓  Compute CAGR, Sharpe, Alpha, Beta, VaR, CVaR, HHI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754880"/>
            <a:ext cx="5577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8F0"/>
                </a:solidFill>
              </a:rPr>
              <a:t>  ✓  Interactive 7-page Streamlit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5577840"/>
            <a:ext cx="5577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8F0"/>
                </a:solidFill>
              </a:rPr>
              <a:t>  ✓  Advanced analytics: Cohort, SIP continuity, Recommender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Data Sources &amp; 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601968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E0E8F0"/>
                </a:solidFill>
              </a:rPr>
              <a:t>Bluestock MF Analytics Platform  |  Prabhjot Kaur  |  Bluestock Fintech  |  ©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11640312" cy="41148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84124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84124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84124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61872"/>
            <a:ext cx="11640312" cy="475488"/>
          </a:xfrm>
          <a:prstGeom prst="rect">
            <a:avLst/>
          </a:prstGeom>
          <a:solidFill>
            <a:srgbClr val="0D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28016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01_fund_master.csv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280160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196F3"/>
                </a:solidFill>
              </a:rPr>
              <a:t>40 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28016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E8F0"/>
                </a:solidFill>
              </a:rPr>
              <a:t>Fund name, AMC, category, benchmark, manager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755648"/>
            <a:ext cx="11640312" cy="475488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773936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02_nav_history.csv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773936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196F3"/>
                </a:solidFill>
              </a:rPr>
              <a:t>64,320 rows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773936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E8F0"/>
                </a:solidFill>
              </a:rPr>
              <a:t>Daily NAV per scheme — Jan 2022 to Dec 2025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249424"/>
            <a:ext cx="11640312" cy="475488"/>
          </a:xfrm>
          <a:prstGeom prst="rect">
            <a:avLst/>
          </a:prstGeom>
          <a:solidFill>
            <a:srgbClr val="0D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267712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03_aum_by_fund_house.csv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267712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196F3"/>
                </a:solidFill>
              </a:rPr>
              <a:t>90 rows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267712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E8F0"/>
                </a:solidFill>
              </a:rPr>
              <a:t>Quarterly AUM by AMC (₹ Crore)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743200"/>
            <a:ext cx="11640312" cy="475488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761488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04_monthly_sip_inflows.csv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76148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196F3"/>
                </a:solidFill>
              </a:rPr>
              <a:t>48 rows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76148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E8F0"/>
                </a:solidFill>
              </a:rPr>
              <a:t>Monthly SIP inflows &amp; account statistics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236976"/>
            <a:ext cx="11640312" cy="475488"/>
          </a:xfrm>
          <a:prstGeom prst="rect">
            <a:avLst/>
          </a:prstGeom>
          <a:solidFill>
            <a:srgbClr val="0D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55264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05_category_inflows.csv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255264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196F3"/>
                </a:solidFill>
              </a:rPr>
              <a:t>144 rows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255264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E8F0"/>
                </a:solidFill>
              </a:rPr>
              <a:t>Category-wise net inflows by month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730752"/>
            <a:ext cx="11640312" cy="475488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749039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06_industry_folio_count.csv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749039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196F3"/>
                </a:solidFill>
              </a:rPr>
              <a:t>21 rows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749039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E8F0"/>
                </a:solidFill>
              </a:rPr>
              <a:t>Equity / Debt / Hybrid folio counts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224528"/>
            <a:ext cx="11640312" cy="475488"/>
          </a:xfrm>
          <a:prstGeom prst="rect">
            <a:avLst/>
          </a:prstGeom>
          <a:solidFill>
            <a:srgbClr val="0D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4242816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07_scheme_performance.csv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242816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196F3"/>
                </a:solidFill>
              </a:rPr>
              <a:t>40 rows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242816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E8F0"/>
                </a:solidFill>
              </a:rPr>
              <a:t>1yr / 3yr / 5yr returns, Sharpe, expense ratio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718304"/>
            <a:ext cx="11640312" cy="475488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4736592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08_investor_transactions.csv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4736592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196F3"/>
                </a:solidFill>
              </a:rPr>
              <a:t>32,778 rows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736592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E8F0"/>
                </a:solidFill>
              </a:rPr>
              <a:t>SIP / Lumpsum / Redemption investor records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212080"/>
            <a:ext cx="11640312" cy="475488"/>
          </a:xfrm>
          <a:prstGeom prst="rect">
            <a:avLst/>
          </a:prstGeom>
          <a:solidFill>
            <a:srgbClr val="0D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5230368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09_portfolio_holdings.csv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523036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196F3"/>
                </a:solidFill>
              </a:rPr>
              <a:t>322 rows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23036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E8F0"/>
                </a:solidFill>
              </a:rPr>
              <a:t>Sector weights per fund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705856"/>
            <a:ext cx="11640312" cy="475488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5724144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10_benchmark_indices.csv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5724144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196F3"/>
                </a:solidFill>
              </a:rPr>
              <a:t>8,050 rows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5724144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E8F0"/>
                </a:solidFill>
              </a:rPr>
              <a:t>NIFTY 50 &amp; NIFTY 100 daily close prices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Solution Architecture — ETL &amp; Star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601968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E0E8F0"/>
                </a:solidFill>
              </a:rPr>
              <a:t>Bluestock MF Analytics Platform  |  Prabhjot Kaur  |  Bluestock Fintech  |  ©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RAW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10 CSV Files + AMFI Live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2984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0E8F0"/>
                </a:solidFill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10972800" cy="82296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1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ETL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874519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clean_nav.py · clean_transactions.py · clean_performance.py · run_pipeline.py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6700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0E8F0"/>
                </a:solidFill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10972800" cy="822960"/>
          </a:xfrm>
          <a:prstGeom prst="rect">
            <a:avLst/>
          </a:prstGeom>
          <a:solidFill>
            <a:srgbClr val="00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46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STAR SCHEMA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2461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SQLite · 11 Tables · 2 Dims · 9 Facts · 8 Indexes · 3 Views · 107K Rows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40416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0E8F0"/>
                </a:solidFill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72000"/>
            <a:ext cx="10972800" cy="8229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617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ANALYTICS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6177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EDA · Performance Metrics · VaR/CVaR · Rolling Sharpe · HHI · Recommender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54132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0E8F0"/>
                </a:solidFill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10972800" cy="8229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06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8064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Streamlit 7-page App · Plotly · Monte Carlo · Markowitz · Export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EDA Highlights — NAV Trends &amp; AUM Growth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601968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E0E8F0"/>
                </a:solidFill>
              </a:rPr>
              <a:t>Bluestock MF Analytics Platform  |  Prabhjot Kaur  |  Bluestock Fintech  |  © 2026</a:t>
            </a:r>
          </a:p>
        </p:txBody>
      </p:sp>
      <p:pic>
        <p:nvPicPr>
          <p:cNvPr id="6" name="Picture 5" descr="01_nav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760720" cy="3200400"/>
          </a:xfrm>
          <a:prstGeom prst="rect">
            <a:avLst/>
          </a:prstGeom>
        </p:spPr>
      </p:pic>
      <p:pic>
        <p:nvPicPr>
          <p:cNvPr id="7" name="Picture 6" descr="02_aum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822960"/>
            <a:ext cx="557784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4069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96F3"/>
                </a:solidFill>
              </a:rPr>
              <a:t>📈  NAV Trends (4.5 Years)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4069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96F3"/>
                </a:solidFill>
              </a:rPr>
              <a:t>🏦  AUM Growth by Fund House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5262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0"/>
                </a:solidFill>
              </a:rPr>
              <a:t>  ▸  Small-cap funds outperformed large-cap by 8–12% CAGR (higher volatility)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9834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0"/>
                </a:solidFill>
              </a:rPr>
              <a:t>  ▸  SBI MF maintained AUM leadership throughout 2022–2025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5440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0"/>
                </a:solidFill>
              </a:rPr>
              <a:t>  ▸  Industry AUM grew from ₹60L Cr → ₹81L Cr (+35% over 4.5 years)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5897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0"/>
                </a:solidFill>
              </a:rPr>
              <a:t>  ▸  Equity category grew 45% faster than debt in folio count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EDA Highlights — SIP Trends &amp; Demographics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601968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E0E8F0"/>
                </a:solidFill>
              </a:rPr>
              <a:t>Bluestock MF Analytics Platform  |  Prabhjot Kaur  |  Bluestock Fintech  |  © 2026</a:t>
            </a:r>
          </a:p>
        </p:txBody>
      </p:sp>
      <p:pic>
        <p:nvPicPr>
          <p:cNvPr id="6" name="Picture 5" descr="03_sip_inflow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760720" cy="2743200"/>
          </a:xfrm>
          <a:prstGeom prst="rect">
            <a:avLst/>
          </a:prstGeom>
        </p:spPr>
      </p:pic>
      <p:pic>
        <p:nvPicPr>
          <p:cNvPr id="7" name="Picture 6" descr="05_06_07_demograph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822960"/>
            <a:ext cx="557784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11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96F3"/>
                </a:solidFill>
              </a:rPr>
              <a:t>💰  SIP Inflow Trend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611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96F3"/>
                </a:solidFill>
              </a:rPr>
              <a:t>👥  Investor Demographics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0690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0"/>
                </a:solidFill>
              </a:rPr>
              <a:t>  ▸  SIP inflows grew 180% — peak ₹31,000+ Cr in Dec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5262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0"/>
                </a:solidFill>
              </a:rPr>
              <a:t>  ▸  26–35 age group contributes 42% of SIP transactions (millennial-driven)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9834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0"/>
                </a:solidFill>
              </a:rPr>
              <a:t>  ▸  Top 5 states (MH,DL,KA,TN,GJ) account for 68% of transaction volume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5440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0"/>
                </a:solidFill>
              </a:rPr>
              <a:t>  ▸  SIP now exceeds lumpsum investments — shift to systematic investing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Performance Analytics — Bluestock Composite Score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601968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E0E8F0"/>
                </a:solidFill>
              </a:rPr>
              <a:t>Bluestock MF Analytics Platform  |  Prabhjot Kaur  |  Bluestock Fintech  |  © 2026</a:t>
            </a:r>
          </a:p>
        </p:txBody>
      </p:sp>
      <p:pic>
        <p:nvPicPr>
          <p:cNvPr id="6" name="Picture 5" descr="13_14_15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7315200" cy="3200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863840" y="822960"/>
            <a:ext cx="4023360" cy="3657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8412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Fund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8412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CAGR%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8412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Sharpe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8412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1207008"/>
            <a:ext cx="4023360" cy="457200"/>
          </a:xfrm>
          <a:prstGeom prst="rect">
            <a:avLst/>
          </a:prstGeom>
          <a:solidFill>
            <a:srgbClr val="0D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122529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HDFC Top 100 Fund - 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1225296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CAF50"/>
                </a:solidFill>
              </a:rPr>
              <a:t>-1.8%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1225296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196F3"/>
                </a:solidFill>
              </a:rPr>
              <a:t>-0.32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1225296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87.9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1682496"/>
            <a:ext cx="4023360" cy="457200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170078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UTI Mid Cap Fund - Reg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1700784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CAF50"/>
                </a:solidFill>
              </a:rPr>
              <a:t>-3.7%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1700784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196F3"/>
                </a:solidFill>
              </a:rPr>
              <a:t>-0.29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1700784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86.7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2157984"/>
            <a:ext cx="4023360" cy="457200"/>
          </a:xfrm>
          <a:prstGeom prst="rect">
            <a:avLst/>
          </a:prstGeom>
          <a:solidFill>
            <a:srgbClr val="0D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21762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Axis Small Cap Fund -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176272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CAF50"/>
                </a:solidFill>
              </a:rPr>
              <a:t>-9.7%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2176272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196F3"/>
                </a:solidFill>
              </a:rPr>
              <a:t>-0.15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217627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84.2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2633472"/>
            <a:ext cx="4023360" cy="457200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60" y="2651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ABSL Small Cap Fund -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651760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CAF50"/>
                </a:solidFill>
              </a:rPr>
              <a:t>-5.6%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2651760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196F3"/>
                </a:solidFill>
              </a:rPr>
              <a:t>0.05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265176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79.3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3108960"/>
            <a:ext cx="4023360" cy="457200"/>
          </a:xfrm>
          <a:prstGeom prst="rect">
            <a:avLst/>
          </a:prstGeom>
          <a:solidFill>
            <a:srgbClr val="0D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60" y="31272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Axis Bluechip Fund - 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3127248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CAF50"/>
                </a:solidFill>
              </a:rPr>
              <a:t>0.1%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3127248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196F3"/>
                </a:solidFill>
              </a:rPr>
              <a:t>-0.13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3127248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78.3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4114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96F3"/>
                </a:solidFill>
              </a:rPr>
              <a:t>Performance Formulas: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526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0"/>
                </a:solidFill>
              </a:rPr>
              <a:t>  CAGR(3yr) = (End NAV/Start NAV)^(1/3)−1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983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0"/>
                </a:solidFill>
              </a:rPr>
              <a:t>  Sharpe = (Rp−Rf)/σp  [Rf=6% p.a.]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440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0"/>
                </a:solidFill>
              </a:rPr>
              <a:t>  Alpha = Rp−[Rf+β(Rm−Rf)]  vs NIFTY 100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897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0"/>
                </a:solidFill>
              </a:rPr>
              <a:t>  Score = 40%·CAGR + 30%·Sharpe + 20%·Alpha + 10%·(1−MaxDD)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Performance Analytics — Benchmark &amp; Risk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601968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E0E8F0"/>
                </a:solidFill>
              </a:rPr>
              <a:t>Bluestock MF Analytics Platform  |  Prabhjot Kaur  |  Bluestock Fintech  |  © 2026</a:t>
            </a:r>
          </a:p>
        </p:txBody>
      </p:sp>
      <p:pic>
        <p:nvPicPr>
          <p:cNvPr id="6" name="Picture 5" descr="benchmar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6858000" cy="34747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98079" y="822960"/>
            <a:ext cx="4389120" cy="38404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84124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Fund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84124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VaR 95%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84124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CVaR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84124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1234440"/>
            <a:ext cx="4389120" cy="438912"/>
          </a:xfrm>
          <a:prstGeom prst="rect">
            <a:avLst/>
          </a:prstGeom>
          <a:solidFill>
            <a:srgbClr val="0D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1252728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ABSL Small Cap Fund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1252728"/>
            <a:ext cx="10058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5722"/>
                </a:solidFill>
              </a:rPr>
              <a:t>-2.39%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1252728"/>
            <a:ext cx="777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5722"/>
                </a:solidFill>
              </a:rPr>
              <a:t>-3.03%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1252728"/>
            <a:ext cx="594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</a:rPr>
              <a:t>Moderate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1691640"/>
            <a:ext cx="4389120" cy="438912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1709928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Axis Small Cap Fund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1709928"/>
            <a:ext cx="10058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5722"/>
                </a:solidFill>
              </a:rPr>
              <a:t>-2.33%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1709928"/>
            <a:ext cx="777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5722"/>
                </a:solidFill>
              </a:rPr>
              <a:t>-2.97%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1709928"/>
            <a:ext cx="594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</a:rPr>
              <a:t>Moderate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79" y="2148840"/>
            <a:ext cx="4389120" cy="438912"/>
          </a:xfrm>
          <a:prstGeom prst="rect">
            <a:avLst/>
          </a:prstGeom>
          <a:solidFill>
            <a:srgbClr val="0D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2167128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SBI Small Cap Fund -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167128"/>
            <a:ext cx="10058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5722"/>
                </a:solidFill>
              </a:rPr>
              <a:t>-2.32%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2167128"/>
            <a:ext cx="777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5722"/>
                </a:solidFill>
              </a:rPr>
              <a:t>-3.02%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2167128"/>
            <a:ext cx="594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</a:rPr>
              <a:t>Moderate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2606040"/>
            <a:ext cx="4389120" cy="438912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800" y="2624328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Nippon India Small 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2624328"/>
            <a:ext cx="10058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5722"/>
                </a:solidFill>
              </a:rPr>
              <a:t>-2.28%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2624328"/>
            <a:ext cx="777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5722"/>
                </a:solidFill>
              </a:rPr>
              <a:t>-2.99%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2624328"/>
            <a:ext cx="594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</a:rPr>
              <a:t>Moderate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79" y="3063240"/>
            <a:ext cx="4389120" cy="438912"/>
          </a:xfrm>
          <a:prstGeom prst="rect">
            <a:avLst/>
          </a:prstGeom>
          <a:solidFill>
            <a:srgbClr val="0D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43800" y="3081528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DSP Small Cap Fund -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3081528"/>
            <a:ext cx="10058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5722"/>
                </a:solidFill>
              </a:rPr>
              <a:t>-2.15%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3081528"/>
            <a:ext cx="777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5722"/>
                </a:solidFill>
              </a:rPr>
              <a:t>-2.86%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3081528"/>
            <a:ext cx="594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</a:rPr>
              <a:t>Moderate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4389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96F3"/>
                </a:solidFill>
              </a:rPr>
              <a:t>Risk Insights: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800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0"/>
                </a:solidFill>
              </a:rPr>
              <a:t>  ▸  32% of funds carry CVaR below −3% — significant tail risk in equity schemes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0"/>
                </a:solidFill>
              </a:rPr>
              <a:t>  ▸  CVaR is consistently 30–50% worse than VaR threshold — fat tails in equity returns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806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0"/>
                </a:solidFill>
              </a:rPr>
              <a:t>  ▸  Top performers outpaced NIFTY 100 by 30–45% excess return (2023–2025)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Interactive Dashboard — Fund Performance &amp; Industry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601968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E0E8F0"/>
                </a:solidFill>
              </a:rPr>
              <a:t>Bluestock MF Analytics Platform  |  Prabhjot Kaur  |  Bluestock Fintech  |  © 2026</a:t>
            </a:r>
          </a:p>
        </p:txBody>
      </p:sp>
      <p:pic>
        <p:nvPicPr>
          <p:cNvPr id="6" name="Picture 5" descr="13_14_15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1143000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0749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0E8F0"/>
                </a:solidFill>
              </a:rPr>
              <a:t>7-Page Streamlit App · Plotly Charts · Dark Navy Theme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39" y="50749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0E8F0"/>
                </a:solidFill>
              </a:rPr>
              <a:t>Risk-Return Scatter · Fund Comparison Tool · Drill-Through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59" y="50749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0E8F0"/>
                </a:solidFill>
              </a:rPr>
              <a:t>Dynamic Slicers: Fund House, Category,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50749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0E8F0"/>
                </a:solidFill>
              </a:rPr>
              <a:t>CSV &amp; Excel Export on every data table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Interactive Dashboard — Advanced Analytics Pages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601968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E0E8F0"/>
                </a:solidFill>
              </a:rPr>
              <a:t>Bluestock MF Analytics Platform  |  Prabhjot Kaur  |  Bluestock Fintech  |  © 2026</a:t>
            </a:r>
          </a:p>
        </p:txBody>
      </p:sp>
      <p:pic>
        <p:nvPicPr>
          <p:cNvPr id="6" name="Picture 5" descr="rolling_sharp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7315200" cy="3840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863840" y="868680"/>
            <a:ext cx="4023360" cy="3840480"/>
          </a:xfrm>
          <a:prstGeom prst="rect">
            <a:avLst/>
          </a:prstGeom>
          <a:solidFill>
            <a:srgbClr val="0D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9144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96F3"/>
                </a:solidFill>
              </a:rPr>
              <a:t>🎲  Monte Carlo Simulation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0"/>
                </a:solidFill>
              </a:rPr>
              <a:t>  ▸ 10,000-path 5-yr NAV projection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0"/>
                </a:solidFill>
              </a:rPr>
              <a:t>  ▸ Confidence bands (5th–95th pct)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0"/>
                </a:solidFill>
              </a:rPr>
              <a:t>  ▸ Final value histogram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0"/>
                </a:solidFill>
              </a:rPr>
              <a:t>  ▸ Probability of target CAGR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0"/>
                </a:solidFill>
              </a:rPr>
              <a:t>  ▸  10,000-path 5-yr NAV projection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18105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0"/>
                </a:solidFill>
              </a:rPr>
              <a:t>  ▸  Confidence bands (5th–95th pct)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24942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0"/>
                </a:solidFill>
              </a:rPr>
              <a:t>  ▸  Final value histogram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68833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0"/>
                </a:solidFill>
              </a:rPr>
              <a:t>  ▸  Probability of target CAGR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2004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CAF50"/>
                </a:solidFill>
              </a:rPr>
              <a:t>🎯  Portfolio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1272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0"/>
                </a:solidFill>
              </a:rPr>
              <a:t>  ▸  Markowitz efficient frontier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0"/>
                </a:solidFill>
              </a:rPr>
              <a:t>  ▸  3,000 random portfolios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0050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0"/>
                </a:solidFill>
              </a:rPr>
              <a:t>  ▸  Max Sharpe ★ &amp; Min Vol 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7548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0"/>
                </a:solidFill>
              </a:rPr>
              <a:t>Rolling 90-Day Sharpe — Top 5 funds showing time-varying risk-adjusted return over 2022–2025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Key Findings &amp;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601968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E0E8F0"/>
                </a:solidFill>
              </a:rPr>
              <a:t>Bluestock MF Analytics Platform  |  Prabhjot Kaur  |  Bluestock Fintech  |  ©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3749039" cy="2286000"/>
          </a:xfrm>
          <a:prstGeom prst="rect">
            <a:avLst/>
          </a:prstGeom>
          <a:solidFill>
            <a:srgbClr val="0D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3749039" cy="347472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9326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FINDING 1  |  TAIL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25880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0"/>
                </a:solidFill>
              </a:rPr>
              <a:t>32% of funds carry CVaR &lt; −3%. Simple Sharpe ratio is insufficient — risk budgeting must include tail metrics.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914400"/>
            <a:ext cx="3749039" cy="2286000"/>
          </a:xfrm>
          <a:prstGeom prst="rect">
            <a:avLst/>
          </a:prstGeom>
          <a:solidFill>
            <a:srgbClr val="0D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59" y="914400"/>
            <a:ext cx="3749039" cy="34747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399" y="9326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FINDING 2  |  COHORT LOYALTY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399" y="1325880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0"/>
                </a:solidFill>
              </a:rPr>
              <a:t>2022 cohort retains at 45% vs 70%+ for 2023–25 cohorts. Bear-market entrants churn significantly more.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914400"/>
            <a:ext cx="3749039" cy="2286000"/>
          </a:xfrm>
          <a:prstGeom prst="rect">
            <a:avLst/>
          </a:prstGeom>
          <a:solidFill>
            <a:srgbClr val="0D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914400"/>
            <a:ext cx="3749039" cy="34747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9326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FINDING 3  |  SIP CONTINUITY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325880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0"/>
                </a:solidFill>
              </a:rPr>
              <a:t>32% of SIP investors with 6+ SIPs show avg gap &gt; 35 days — leading indicator of platform churn.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474720"/>
            <a:ext cx="3749039" cy="2286000"/>
          </a:xfrm>
          <a:prstGeom prst="rect">
            <a:avLst/>
          </a:prstGeom>
          <a:solidFill>
            <a:srgbClr val="0D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474720"/>
            <a:ext cx="3749039" cy="3474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4930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FINDING 4  |  ROLLING SHARPE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886200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0"/>
                </a:solidFill>
              </a:rPr>
              <a:t>5 of top-10 funds saw Sharpe collapse 0.5–0.8 pts in 2024 correction — exposing style drift.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59" y="3474720"/>
            <a:ext cx="3749039" cy="2286000"/>
          </a:xfrm>
          <a:prstGeom prst="rect">
            <a:avLst/>
          </a:prstGeom>
          <a:solidFill>
            <a:srgbClr val="0D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59" y="3474720"/>
            <a:ext cx="3749039" cy="347472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399" y="34930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FINDING 5  |  CONCENTRATION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399" y="3886200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0"/>
                </a:solidFill>
              </a:rPr>
              <a:t>84% of small-cap funds have HHI &gt; 2500. Sector shocks can cause correlated drawdowns.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806440"/>
            <a:ext cx="11430000" cy="685800"/>
          </a:xfrm>
          <a:prstGeom prst="rect">
            <a:avLst/>
          </a:prstGeom>
          <a:solidFill>
            <a:srgbClr val="0D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852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96F3"/>
                </a:solidFill>
              </a:rPr>
              <a:t>💡  Recommendation: Use CVaR for risk budgeting · Target 2022 cohort for re-engagement · HHI &lt; 1500 for conservative investors · Rolling Sharpe for manager evaluation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88952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2196F3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Bluestock Mutual Fund Analytics Platform — Capstone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0E8F0"/>
                </a:solidFill>
              </a:rPr>
              <a:t>Prabhjot Kaur  |  Data Analytics Intern  |  Bluestock Fintech  |  June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474720"/>
            <a:ext cx="2651760" cy="1371600"/>
          </a:xfrm>
          <a:prstGeom prst="rect">
            <a:avLst/>
          </a:prstGeom>
          <a:solidFill>
            <a:srgbClr val="0D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77639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196F3"/>
                </a:solidFill>
              </a:rPr>
              <a:t>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7939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Bluestock Fintech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3474720"/>
            <a:ext cx="2651760" cy="1371600"/>
          </a:xfrm>
          <a:prstGeom prst="rect">
            <a:avLst/>
          </a:prstGeom>
          <a:solidFill>
            <a:srgbClr val="0D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35204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977639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196F3"/>
                </a:solidFill>
              </a:rPr>
              <a:t>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27939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github.com/prabhjotkaurarora27/bluestock_mf_capstone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474720"/>
            <a:ext cx="2651760" cy="1371600"/>
          </a:xfrm>
          <a:prstGeom prst="rect">
            <a:avLst/>
          </a:prstGeom>
          <a:solidFill>
            <a:srgbClr val="0D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35204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977639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196F3"/>
                </a:solidFill>
              </a:rPr>
              <a:t>Period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27939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Jan 2022 – Dec 2025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3474720"/>
            <a:ext cx="2651760" cy="1371600"/>
          </a:xfrm>
          <a:prstGeom prst="rect">
            <a:avLst/>
          </a:prstGeom>
          <a:solidFill>
            <a:srgbClr val="0D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35204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3977639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196F3"/>
                </a:solidFill>
              </a:rPr>
              <a:t>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427939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40 Funds · 10 AMCs · 107K DB Rows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1206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0E8F0"/>
                </a:solidFill>
              </a:rPr>
              <a:t>Questions?  |  prabhjot@example.com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692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890A0"/>
                </a:solidFill>
              </a:rPr>
              <a:t>Built with  Python · Pandas · SQLite · Plotly · Streamlit · SciPy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